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4" r:id="rId6"/>
    <p:sldId id="261" r:id="rId7"/>
    <p:sldId id="262" r:id="rId8"/>
    <p:sldId id="265" r:id="rId9"/>
    <p:sldId id="268" r:id="rId10"/>
    <p:sldId id="267" r:id="rId11"/>
    <p:sldId id="269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00CC"/>
    <a:srgbClr val="99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BDAE831-246E-4D6E-978C-C50FA1CFFE40}" v="13" dt="2026-08-30T11:49:22.48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677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bihrtam123@outlook.com" userId="8bfba6f25caaa63e" providerId="LiveId" clId="{AF88C727-7CBD-4589-9C29-2022FAF29683}"/>
    <pc:docChg chg="undo custSel delSld modSld">
      <pc:chgData name="abihrtam123@outlook.com" userId="8bfba6f25caaa63e" providerId="LiveId" clId="{AF88C727-7CBD-4589-9C29-2022FAF29683}" dt="2026-08-30T11:53:38.138" v="266" actId="478"/>
      <pc:docMkLst>
        <pc:docMk/>
      </pc:docMkLst>
      <pc:sldChg chg="modSp mod">
        <pc:chgData name="abihrtam123@outlook.com" userId="8bfba6f25caaa63e" providerId="LiveId" clId="{AF88C727-7CBD-4589-9C29-2022FAF29683}" dt="2026-08-28T03:46:51.021" v="141" actId="20577"/>
        <pc:sldMkLst>
          <pc:docMk/>
          <pc:sldMk cId="1402305257" sldId="257"/>
        </pc:sldMkLst>
        <pc:spChg chg="mod">
          <ac:chgData name="abihrtam123@outlook.com" userId="8bfba6f25caaa63e" providerId="LiveId" clId="{AF88C727-7CBD-4589-9C29-2022FAF29683}" dt="2026-08-28T03:46:20.144" v="42" actId="20577"/>
          <ac:spMkLst>
            <pc:docMk/>
            <pc:sldMk cId="1402305257" sldId="257"/>
            <ac:spMk id="2" creationId="{12D83E37-12E2-CA89-EB34-BDC0B5B78992}"/>
          </ac:spMkLst>
        </pc:spChg>
        <pc:spChg chg="mod">
          <ac:chgData name="abihrtam123@outlook.com" userId="8bfba6f25caaa63e" providerId="LiveId" clId="{AF88C727-7CBD-4589-9C29-2022FAF29683}" dt="2026-08-28T03:46:51.021" v="141" actId="20577"/>
          <ac:spMkLst>
            <pc:docMk/>
            <pc:sldMk cId="1402305257" sldId="257"/>
            <ac:spMk id="3" creationId="{DAB33056-A43B-5048-2D0B-66C29A6B4355}"/>
          </ac:spMkLst>
        </pc:spChg>
      </pc:sldChg>
      <pc:sldChg chg="addSp delSp modSp mod">
        <pc:chgData name="abihrtam123@outlook.com" userId="8bfba6f25caaa63e" providerId="LiveId" clId="{AF88C727-7CBD-4589-9C29-2022FAF29683}" dt="2026-08-30T11:53:38.138" v="266" actId="478"/>
        <pc:sldMkLst>
          <pc:docMk/>
          <pc:sldMk cId="476578722" sldId="264"/>
        </pc:sldMkLst>
        <pc:spChg chg="add del mod">
          <ac:chgData name="abihrtam123@outlook.com" userId="8bfba6f25caaa63e" providerId="LiveId" clId="{AF88C727-7CBD-4589-9C29-2022FAF29683}" dt="2026-08-29T08:37:55.945" v="154" actId="478"/>
          <ac:spMkLst>
            <pc:docMk/>
            <pc:sldMk cId="476578722" sldId="264"/>
            <ac:spMk id="3" creationId="{02A41783-B3F1-A155-1448-ED7BCF3B62E8}"/>
          </ac:spMkLst>
        </pc:spChg>
        <pc:spChg chg="add del mod">
          <ac:chgData name="abihrtam123@outlook.com" userId="8bfba6f25caaa63e" providerId="LiveId" clId="{AF88C727-7CBD-4589-9C29-2022FAF29683}" dt="2026-08-30T11:53:38.138" v="266" actId="478"/>
          <ac:spMkLst>
            <pc:docMk/>
            <pc:sldMk cId="476578722" sldId="264"/>
            <ac:spMk id="3" creationId="{5B1E7FD3-3BE2-6E2C-7FCF-EEDD89E96CD7}"/>
          </ac:spMkLst>
        </pc:spChg>
        <pc:picChg chg="mod">
          <ac:chgData name="abihrtam123@outlook.com" userId="8bfba6f25caaa63e" providerId="LiveId" clId="{AF88C727-7CBD-4589-9C29-2022FAF29683}" dt="2026-08-29T08:37:01.593" v="152" actId="1076"/>
          <ac:picMkLst>
            <pc:docMk/>
            <pc:sldMk cId="476578722" sldId="264"/>
            <ac:picMk id="7" creationId="{725F105A-8B08-404F-F677-E7EBD8656D89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A8683-369A-A6C6-D209-C3D77B0D3A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4ACEA4-D2FD-9FD7-A8F8-C5F186246B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006DF-16D5-BA26-397A-8A69AA59F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682C05-9498-4835-9800-B3E00B935763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F530F4-B0BB-CB5E-B39B-BB562AF1B1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C6EF7-3553-CA5A-E70A-B40E9EDC6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25B0A-2F13-490A-993D-2AD580C96AE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25873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DD7D0A-50C5-C6F4-80DE-7F63F0415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417699-9FD6-EAB0-ACC5-AF49E247AE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BCAD0B-6D48-8501-74D6-5EBE837D92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682C05-9498-4835-9800-B3E00B935763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F7B0C7-D2B5-DFFF-1DB0-D5199A5906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F2C15C-AB55-4230-39CB-E145BD46C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25B0A-2F13-490A-993D-2AD580C96AE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756404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51B8BA-DDEB-6D3D-16E2-8CFABD47E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82E6F1-7F65-C1C9-AD51-A9003A0E0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3B69FE-8D30-6EBA-4389-38CF5BA683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682C05-9498-4835-9800-B3E00B935763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046D43-3121-A52F-AA19-53F9048B9A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B2FE04-16E1-2D0B-1858-1370082E45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25B0A-2F13-490A-993D-2AD580C96AE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431276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F43A07-C149-8D59-FB37-55C8520D3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1847C2-F264-A1BD-033D-9F3A0EDB4E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9B0285-D780-9C33-C063-9492CAD849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06B250-90AE-A5A3-3DBE-2181DBA56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682C05-9498-4835-9800-B3E00B935763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117A6D-876A-ED1C-A830-65FD9A18E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1DF20D-EE76-62C8-38A1-C337854CA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25B0A-2F13-490A-993D-2AD580C96AE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567696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D130F-3328-779D-8527-620978ED1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7D5140-0BEE-A344-CFE9-E55E2F62F0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3CA819-AB28-D14F-513E-6BD74EF06E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1B5B34A-66C2-07E4-B4C9-3307F63AFC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5123154-B6F6-C040-35F7-DFF5D1129E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934C860-C50E-2532-BB5A-81171E0EFF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682C05-9498-4835-9800-B3E00B935763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2158A9B-8273-36FE-4A35-98EB60192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4410837-E227-2BEF-2FB2-8838C3CDA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25B0A-2F13-490A-993D-2AD580C96AE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6524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43525-2A2D-4CCA-A7B9-40911AC94D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EA06F8-AD49-80CF-922A-7C5904599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682C05-9498-4835-9800-B3E00B935763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937C45-D11D-0545-3630-163C000400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AD54AE-4E05-E957-AEB4-3D4634DE3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25B0A-2F13-490A-993D-2AD580C96AE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724638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41D385-2E14-5B25-81C1-6D3A7AA03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682C05-9498-4835-9800-B3E00B935763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8F8B076-BBEB-BD05-2938-F1A7AAEEC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69F178-CE65-8768-94A8-83269C73E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25B0A-2F13-490A-993D-2AD580C96AE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841663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E381B-062E-BB44-1EC3-42F7D8BFF4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261872-F555-1BF9-7F33-4D7002EA64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61A918-A999-5530-CDBB-378D01EF56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2FADD7-E6DF-1F54-DF51-53E8CA659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682C05-9498-4835-9800-B3E00B935763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C3D5A3-CD06-1EFC-0F02-EA4A32325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47C9C1-2A06-6C9D-1DA9-DC2CA8669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25B0A-2F13-490A-993D-2AD580C96AE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7867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EEB2E-36E0-5C22-C497-12DCF0B221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9AC23B-EE56-4B83-E429-BF0297AC19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B0F8C3-D6F7-1279-DCEF-FE82BE1AE5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67E5F9-E83D-4B70-0CE0-0647D820B7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682C05-9498-4835-9800-B3E00B935763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4E9E95-17AA-2AE1-1DE4-EBB62BB2A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1FB562-F499-955F-95ED-582711E95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25B0A-2F13-490A-993D-2AD580C96AE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9108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96A09-8BC7-D513-FF00-FF9615567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C3A862-46B8-14B4-760B-203F3D2BA1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294880-29F7-DFF5-8216-2C35AEE2D9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682C05-9498-4835-9800-B3E00B935763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C103FD-190D-27A6-15AF-445A0BA634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ABD63C-F51B-6B49-4F77-B865B77FE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25B0A-2F13-490A-993D-2AD580C96AE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738872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8A24350-2EA3-F535-CBA7-33EB5699D2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F1D02A-F0A9-51BC-5C73-E5C1FA783F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82E0DC-FFCB-C3DF-0BB8-8F4AD3D1E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682C05-9498-4835-9800-B3E00B935763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3BB4DF-641B-3F6F-6084-497A1D387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AAC391-464E-811D-980E-40DE26642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25B0A-2F13-490A-993D-2AD580C96AE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02913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1FA8657-59F1-22E5-2873-BA5EFDED7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7BFF6D-6513-7708-A89E-3142CB3920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7225F9-9EE3-6E86-0C5B-8A9530311B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682C05-9498-4835-9800-B3E00B935763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528AA1-B475-ADF8-7E88-D7E8174759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C85D0F-B8FE-6317-FD45-DB94BB26A4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F25B0A-2F13-490A-993D-2AD580C96AE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276948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AB33056-A43B-5048-2D0B-66C29A6B43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999" y="4110039"/>
            <a:ext cx="5262880" cy="1655762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IN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Presented by:</a:t>
            </a:r>
          </a:p>
          <a:p>
            <a:pPr algn="l"/>
            <a:r>
              <a:rPr lang="en-IN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	Abinesh H (192424387)</a:t>
            </a:r>
          </a:p>
          <a:p>
            <a:pPr algn="l"/>
            <a:r>
              <a:rPr lang="en-IN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	Mithlesh N (192424364)</a:t>
            </a:r>
          </a:p>
        </p:txBody>
      </p:sp>
      <p:pic>
        <p:nvPicPr>
          <p:cNvPr id="4" name="Image 1">
            <a:extLst>
              <a:ext uri="{FF2B5EF4-FFF2-40B4-BE49-F238E27FC236}">
                <a16:creationId xmlns:a16="http://schemas.microsoft.com/office/drawing/2014/main" id="{343C5CA2-961A-C78F-A257-2C4823F5FAD7}"/>
              </a:ext>
            </a:extLst>
          </p:cNvPr>
          <p:cNvPicPr>
            <a:picLocks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143999" y="203200"/>
            <a:ext cx="9513870" cy="1231471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7139E1C6-F0C8-7297-F3AF-265ADA76DAA0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 bwMode="auto">
          <a:xfrm>
            <a:off x="1513869" y="1780348"/>
            <a:ext cx="9144000" cy="10895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Aft>
                <a:spcPct val="0"/>
              </a:spcAft>
            </a:pPr>
            <a:r>
              <a:rPr lang="en-IN" sz="3600" b="1">
                <a:latin typeface="Times New Roman" panose="02020603050405020304" pitchFamily="18" charset="0"/>
                <a:cs typeface="Times New Roman" panose="02020603050405020304" pitchFamily="18" charset="0"/>
              </a:rPr>
              <a:t>Natural Language-Based Insider Threat Detection from Enterprise Communications</a:t>
            </a:r>
            <a:endParaRPr kumimoji="0" lang="en-US" altLang="en-US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2D83E37-12E2-CA89-EB34-BDC0B5B78992}"/>
              </a:ext>
            </a:extLst>
          </p:cNvPr>
          <p:cNvSpPr txBox="1"/>
          <p:nvPr/>
        </p:nvSpPr>
        <p:spPr>
          <a:xfrm>
            <a:off x="6603999" y="4110039"/>
            <a:ext cx="48564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>
                <a:latin typeface="Times New Roman" panose="02020603050405020304" pitchFamily="18" charset="0"/>
                <a:cs typeface="Times New Roman" panose="02020603050405020304" pitchFamily="18" charset="0"/>
              </a:rPr>
              <a:t>Guided by:</a:t>
            </a:r>
          </a:p>
          <a:p>
            <a:r>
              <a:rPr lang="en-IN" b="1">
                <a:latin typeface="Times New Roman" panose="02020603050405020304" pitchFamily="18" charset="0"/>
                <a:cs typeface="Times New Roman" panose="02020603050405020304" pitchFamily="18" charset="0"/>
              </a:rPr>
              <a:t>	Dr. Kumaragurubaran 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B5BD44-3120-0E90-9308-AAB668454904}"/>
              </a:ext>
            </a:extLst>
          </p:cNvPr>
          <p:cNvSpPr txBox="1"/>
          <p:nvPr/>
        </p:nvSpPr>
        <p:spPr>
          <a:xfrm>
            <a:off x="1404348" y="3118031"/>
            <a:ext cx="89931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>
                <a:latin typeface="Times New Roman" panose="02020603050405020304" pitchFamily="18" charset="0"/>
                <a:cs typeface="Times New Roman" panose="02020603050405020304" pitchFamily="18" charset="0"/>
              </a:rPr>
              <a:t>DSA0306 – Natural Language Processing</a:t>
            </a:r>
            <a:endParaRPr lang="en-IN" sz="36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3052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7E47F1-038B-58AB-286C-3BBAECFA6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56343A-5E51-344E-3B49-0F6CBD2828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lvl="0"/>
            <a:r>
              <a:rPr lang="en-IN">
                <a:latin typeface="Times New Roman" panose="02020603050405020304" pitchFamily="18" charset="0"/>
                <a:cs typeface="Times New Roman" panose="02020603050405020304" pitchFamily="18" charset="0"/>
              </a:rPr>
              <a:t>Enterprise organizations generate large volumes of emails, messages, and internal communications. </a:t>
            </a:r>
          </a:p>
          <a:p>
            <a:pPr lvl="0"/>
            <a:r>
              <a:rPr lang="en-IN">
                <a:latin typeface="Times New Roman" panose="02020603050405020304" pitchFamily="18" charset="0"/>
                <a:cs typeface="Times New Roman" panose="02020603050405020304" pitchFamily="18" charset="0"/>
              </a:rPr>
              <a:t>Insider threats can involve </a:t>
            </a:r>
            <a:r>
              <a:rPr lang="en-IN" b="1">
                <a:latin typeface="Times New Roman" panose="02020603050405020304" pitchFamily="18" charset="0"/>
                <a:cs typeface="Times New Roman" panose="02020603050405020304" pitchFamily="18" charset="0"/>
              </a:rPr>
              <a:t>data leakage, unauthorized access, policy violations, or malicious activities</a:t>
            </a:r>
            <a:r>
              <a:rPr lang="en-IN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lvl="0"/>
            <a:r>
              <a:rPr lang="en-IN">
                <a:latin typeface="Times New Roman" panose="02020603050405020304" pitchFamily="18" charset="0"/>
                <a:cs typeface="Times New Roman" panose="02020603050405020304" pitchFamily="18" charset="0"/>
              </a:rPr>
              <a:t>Traditional manual monitoring is time-consuming and difficult to scale. </a:t>
            </a:r>
          </a:p>
          <a:p>
            <a:pPr lvl="0"/>
            <a:r>
              <a:rPr lang="en-IN">
                <a:latin typeface="Times New Roman" panose="02020603050405020304" pitchFamily="18" charset="0"/>
                <a:cs typeface="Times New Roman" panose="02020603050405020304" pitchFamily="18" charset="0"/>
              </a:rPr>
              <a:t>Natural Language Processing (NLP) can analyze the language used in communications. </a:t>
            </a:r>
          </a:p>
          <a:p>
            <a:pPr lvl="0"/>
            <a:r>
              <a:rPr lang="en-IN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 can classify messages and identify potentially suspicious behavior. </a:t>
            </a:r>
          </a:p>
          <a:p>
            <a:pPr lvl="0"/>
            <a:r>
              <a:rPr lang="en-IN">
                <a:latin typeface="Times New Roman" panose="02020603050405020304" pitchFamily="18" charset="0"/>
                <a:cs typeface="Times New Roman" panose="02020603050405020304" pitchFamily="18" charset="0"/>
              </a:rPr>
              <a:t>The proposed system provides </a:t>
            </a:r>
            <a:r>
              <a:rPr lang="en-IN" b="1">
                <a:latin typeface="Times New Roman" panose="02020603050405020304" pitchFamily="18" charset="0"/>
                <a:cs typeface="Times New Roman" panose="02020603050405020304" pitchFamily="18" charset="0"/>
              </a:rPr>
              <a:t>threat scores, risk levels, threat categories, and suspicious indicators</a:t>
            </a:r>
            <a:r>
              <a:rPr lang="en-IN">
                <a:latin typeface="Times New Roman" panose="02020603050405020304" pitchFamily="18" charset="0"/>
                <a:cs typeface="Times New Roman" panose="02020603050405020304" pitchFamily="18" charset="0"/>
              </a:rPr>
              <a:t> to support security analysts.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15DF8BF-EA19-81F1-38F5-3103644C0BBF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28053" y="97845"/>
            <a:ext cx="1135117" cy="1342884"/>
          </a:xfrm>
          <a:prstGeom prst="rect">
            <a:avLst/>
          </a:prstGeom>
          <a:noFill/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35C5009-23CC-A585-622E-ED3FF8639F2C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5550" y="97845"/>
            <a:ext cx="1520114" cy="134288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927495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422EA-6428-72D1-210E-A8EBD5923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3DFD70-65FB-C26D-FF49-5802F7AED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Times New Roman" pitchFamily="18" charset="0"/>
                <a:cs typeface="Times New Roman" pitchFamily="18" charset="0"/>
              </a:rPr>
              <a:t>PROBLEM STATEMENT</a:t>
            </a:r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05BB33-024B-8932-5544-48B8BB454015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28053" y="97845"/>
            <a:ext cx="1135117" cy="1342884"/>
          </a:xfrm>
          <a:prstGeom prst="rect">
            <a:avLst/>
          </a:prstGeom>
          <a:noFill/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8A29348-9CD3-5AE7-7F78-26F08CA1C8D8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5550" y="97845"/>
            <a:ext cx="1520114" cy="1342884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676E9652-8036-DB9E-4981-65B01E1DD94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33127" y="1957968"/>
            <a:ext cx="11125746" cy="44627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IN" sz="2600">
                <a:latin typeface="Times New Roman" panose="02020603050405020304" pitchFamily="18" charset="0"/>
                <a:cs typeface="Times New Roman" panose="02020603050405020304" pitchFamily="18" charset="0"/>
              </a:rPr>
              <a:t>Enterprise communication data is increasing rapidly. </a:t>
            </a:r>
          </a:p>
          <a:p>
            <a:pPr lvl="0"/>
            <a:r>
              <a:rPr lang="en-IN" sz="2600">
                <a:latin typeface="Times New Roman" panose="02020603050405020304" pitchFamily="18" charset="0"/>
                <a:cs typeface="Times New Roman" panose="02020603050405020304" pitchFamily="18" charset="0"/>
              </a:rPr>
              <a:t>Manual monitoring of emails and messages is </a:t>
            </a:r>
            <a:r>
              <a:rPr lang="en-IN" sz="2600" b="1">
                <a:latin typeface="Times New Roman" panose="02020603050405020304" pitchFamily="18" charset="0"/>
                <a:cs typeface="Times New Roman" panose="02020603050405020304" pitchFamily="18" charset="0"/>
              </a:rPr>
              <a:t>time-consuming and inefficient</a:t>
            </a:r>
            <a:r>
              <a:rPr lang="en-IN" sz="260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lvl="0"/>
            <a:r>
              <a:rPr lang="en-IN" sz="2600">
                <a:latin typeface="Times New Roman" panose="02020603050405020304" pitchFamily="18" charset="0"/>
                <a:cs typeface="Times New Roman" panose="02020603050405020304" pitchFamily="18" charset="0"/>
              </a:rPr>
              <a:t>Insider threats can be hidden within normal-looking communications. </a:t>
            </a:r>
          </a:p>
          <a:p>
            <a:pPr lvl="0"/>
            <a:r>
              <a:rPr lang="en-IN" sz="2600">
                <a:latin typeface="Times New Roman" panose="02020603050405020304" pitchFamily="18" charset="0"/>
                <a:cs typeface="Times New Roman" panose="02020603050405020304" pitchFamily="18" charset="0"/>
              </a:rPr>
              <a:t>Detecting </a:t>
            </a:r>
            <a:r>
              <a:rPr lang="en-IN" sz="2600" b="1">
                <a:latin typeface="Times New Roman" panose="02020603050405020304" pitchFamily="18" charset="0"/>
                <a:cs typeface="Times New Roman" panose="02020603050405020304" pitchFamily="18" charset="0"/>
              </a:rPr>
              <a:t>data leakage, unauthorized access, and malicious intent</a:t>
            </a:r>
            <a:r>
              <a:rPr lang="en-IN" sz="2600">
                <a:latin typeface="Times New Roman" panose="02020603050405020304" pitchFamily="18" charset="0"/>
                <a:cs typeface="Times New Roman" panose="02020603050405020304" pitchFamily="18" charset="0"/>
              </a:rPr>
              <a:t> at an early stage is difficult. </a:t>
            </a:r>
          </a:p>
          <a:p>
            <a:pPr lvl="0"/>
            <a:r>
              <a:rPr lang="en-IN" sz="2600">
                <a:latin typeface="Times New Roman" panose="02020603050405020304" pitchFamily="18" charset="0"/>
                <a:cs typeface="Times New Roman" panose="02020603050405020304" pitchFamily="18" charset="0"/>
              </a:rPr>
              <a:t>Security teams need to prioritize large numbers of communications based on risk. </a:t>
            </a:r>
          </a:p>
          <a:p>
            <a:pPr lvl="0"/>
            <a:r>
              <a:rPr lang="en-IN" sz="2600">
                <a:latin typeface="Times New Roman" panose="02020603050405020304" pitchFamily="18" charset="0"/>
                <a:cs typeface="Times New Roman" panose="02020603050405020304" pitchFamily="18" charset="0"/>
              </a:rPr>
              <a:t>Traditional methods may not provide </a:t>
            </a:r>
            <a:r>
              <a:rPr lang="en-IN" sz="2600" b="1">
                <a:latin typeface="Times New Roman" panose="02020603050405020304" pitchFamily="18" charset="0"/>
                <a:cs typeface="Times New Roman" panose="02020603050405020304" pitchFamily="18" charset="0"/>
              </a:rPr>
              <a:t>fast and explainable threat assessment</a:t>
            </a:r>
            <a:r>
              <a:rPr lang="en-IN" sz="260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lvl="0"/>
            <a:r>
              <a:rPr lang="en-IN" sz="2600">
                <a:latin typeface="Times New Roman" panose="02020603050405020304" pitchFamily="18" charset="0"/>
                <a:cs typeface="Times New Roman" panose="02020603050405020304" pitchFamily="18" charset="0"/>
              </a:rPr>
              <a:t>Therefore, an automated </a:t>
            </a:r>
            <a:r>
              <a:rPr lang="en-IN" sz="2600" b="1">
                <a:latin typeface="Times New Roman" panose="02020603050405020304" pitchFamily="18" charset="0"/>
                <a:cs typeface="Times New Roman" panose="02020603050405020304" pitchFamily="18" charset="0"/>
              </a:rPr>
              <a:t>NLP and Machine Learning-based system</a:t>
            </a:r>
            <a:r>
              <a:rPr lang="en-IN" sz="2600">
                <a:latin typeface="Times New Roman" panose="02020603050405020304" pitchFamily="18" charset="0"/>
                <a:cs typeface="Times New Roman" panose="02020603050405020304" pitchFamily="18" charset="0"/>
              </a:rPr>
              <a:t> is needed to detect and prioritize potential insider threats.</a:t>
            </a:r>
          </a:p>
        </p:txBody>
      </p:sp>
    </p:spTree>
    <p:extLst>
      <p:ext uri="{BB962C8B-B14F-4D97-AF65-F5344CB8AC3E}">
        <p14:creationId xmlns:p14="http://schemas.microsoft.com/office/powerpoint/2010/main" val="24783089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67EF1-A5FB-3853-319C-951110683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C84FC-173E-E2FA-F911-D0257A637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Times New Roman" pitchFamily="18" charset="0"/>
                <a:cs typeface="Times New Roman" pitchFamily="18" charset="0"/>
              </a:rPr>
              <a:t>OBJECTIVES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C40AD-E704-163E-CBAC-743D57CCF3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2774" y="1957968"/>
            <a:ext cx="10926452" cy="4351338"/>
          </a:xfrm>
        </p:spPr>
        <p:txBody>
          <a:bodyPr>
            <a:noAutofit/>
          </a:bodyPr>
          <a:lstStyle/>
          <a:p>
            <a:pPr lvl="0"/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To develop an </a:t>
            </a:r>
            <a:r>
              <a:rPr lang="en-I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NLP-based system</a:t>
            </a: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 for detecting insider threats in enterprise communications. </a:t>
            </a:r>
          </a:p>
          <a:p>
            <a:pPr lvl="0"/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To preprocess and analyze communication text using </a:t>
            </a:r>
            <a:r>
              <a:rPr lang="en-I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Natural Language Processing</a:t>
            </a: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lvl="0"/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To classify communications into different </a:t>
            </a:r>
            <a:r>
              <a:rPr lang="en-I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threat categories</a:t>
            </a: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 using Machine Learning. </a:t>
            </a:r>
          </a:p>
          <a:p>
            <a:pPr lvl="0"/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To generate a </a:t>
            </a:r>
            <a:r>
              <a:rPr lang="en-I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0–100 threat score</a:t>
            </a: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 for each communication. </a:t>
            </a:r>
          </a:p>
          <a:p>
            <a:pPr lvl="0"/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To assign risk levels such as </a:t>
            </a:r>
            <a:r>
              <a:rPr lang="en-I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LOW, MEDIUM, HIGH, and CRITICAL</a:t>
            </a: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lvl="0"/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To identify </a:t>
            </a:r>
            <a:r>
              <a:rPr lang="en-I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suspicious indicators</a:t>
            </a: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 such as data transfer, confidential information, credentials, and concealment. </a:t>
            </a:r>
          </a:p>
          <a:p>
            <a:pPr lvl="0"/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To provide </a:t>
            </a:r>
            <a:r>
              <a:rPr lang="en-I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alerts and analytics</a:t>
            </a: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 for high-risk communications. </a:t>
            </a:r>
          </a:p>
          <a:p>
            <a:pPr lvl="0"/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To provide a user-friendly dashboard for </a:t>
            </a:r>
            <a:r>
              <a:rPr lang="en-I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security monitoring and investigation</a:t>
            </a: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C52CFE3-6E72-2218-A6A4-9DFF6D7A89EB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28053" y="97845"/>
            <a:ext cx="1135117" cy="1342884"/>
          </a:xfrm>
          <a:prstGeom prst="rect">
            <a:avLst/>
          </a:prstGeom>
          <a:noFill/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49CD69-D721-05B8-FEA3-DC824E239C1C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5550" y="97845"/>
            <a:ext cx="1520114" cy="134288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017359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5CE5A-F87A-9D1F-B49C-116B91EF6B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C87C4-5C81-B5DA-2625-80B89F7F62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>
                <a:latin typeface="Times New Roman" pitchFamily="18" charset="0"/>
                <a:cs typeface="Times New Roman" pitchFamily="18" charset="0"/>
              </a:rPr>
              <a:t>System Architecture</a:t>
            </a:r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48470D-CA67-40C2-569A-8A2CE61A37A8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28053" y="97845"/>
            <a:ext cx="1135117" cy="1342884"/>
          </a:xfrm>
          <a:prstGeom prst="rect">
            <a:avLst/>
          </a:prstGeom>
          <a:noFill/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04AB9B4-B79B-9559-1972-A7F70CC56BF9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5550" y="97845"/>
            <a:ext cx="1520114" cy="1342884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25F105A-8B08-404F-F677-E7EBD8656D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8" t="7640" r="392" b="2169"/>
          <a:stretch>
            <a:fillRect/>
          </a:stretch>
        </p:blipFill>
        <p:spPr bwMode="auto">
          <a:xfrm>
            <a:off x="979995" y="1440729"/>
            <a:ext cx="10232010" cy="53199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765787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A2617-BBA3-FD8C-EC26-E5395E319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6991D-77D0-9ABA-5676-D2E36D2C2C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421540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 Module 1: Enterprise Communication Processing &amp; Feature Extraction</a:t>
            </a:r>
            <a:endParaRPr lang="en-IN" sz="4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3D6055-A4A8-9806-FB94-A29FF5EFF126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28053" y="97845"/>
            <a:ext cx="1135117" cy="1342884"/>
          </a:xfrm>
          <a:prstGeom prst="rect">
            <a:avLst/>
          </a:prstGeom>
          <a:noFill/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1844FB4-BBC0-9490-7242-91FF325A4A59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5550" y="97845"/>
            <a:ext cx="1520114" cy="1342884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Rectangle 2">
            <a:extLst>
              <a:ext uri="{FF2B5EF4-FFF2-40B4-BE49-F238E27FC236}">
                <a16:creationId xmlns:a16="http://schemas.microsoft.com/office/drawing/2014/main" id="{59FFFBB4-C863-89AA-ECE7-188F764A8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2139" y="1733646"/>
            <a:ext cx="10967719" cy="45858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I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Purpose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Collect and process enterprise communications from </a:t>
            </a:r>
            <a:r>
              <a:rPr lang="en-I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CSV/TXT files</a:t>
            </a: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Clean and preprocess text messages for NLP analysis.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Extract meaningful </a:t>
            </a:r>
            <a:r>
              <a:rPr lang="en-I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textual features</a:t>
            </a: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 for threat classific9999999999999ation. </a:t>
            </a:r>
          </a:p>
          <a:p>
            <a:endParaRPr lang="en-IN" sz="24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🛠 Tools &amp; Technologies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 – Data processing and NLP pipeline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Pandas</a:t>
            </a: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 – CSV data handling and preprocessing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NLTK / NLP techniques</a:t>
            </a: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 – Text cleaning and preprocessing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TF-IDF / N-gram features</a:t>
            </a: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 – Feature extraction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FastAPI</a:t>
            </a: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 – Backend API for communication upload and processing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PostgreSQL / SQLAlchemy</a:t>
            </a: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 – Communication data storage</a:t>
            </a:r>
          </a:p>
        </p:txBody>
      </p:sp>
    </p:spTree>
    <p:extLst>
      <p:ext uri="{BB962C8B-B14F-4D97-AF65-F5344CB8AC3E}">
        <p14:creationId xmlns:p14="http://schemas.microsoft.com/office/powerpoint/2010/main" val="18285870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CEA54A-BC17-9A7E-4C94-A2A025EC7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96A87-7A39-37B5-B23C-529EE2ABA0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7114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sz="3600" b="1">
                <a:latin typeface="Times New Roman" panose="02020603050405020304" pitchFamily="18" charset="0"/>
                <a:cs typeface="Times New Roman" panose="02020603050405020304" pitchFamily="18" charset="0"/>
              </a:rPr>
              <a:t>Module 2: Insider Threat Detection &amp; Risk Assessment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B6D845-CE69-F88C-BD3D-C150E4C00FA0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28053" y="97845"/>
            <a:ext cx="1135117" cy="1342884"/>
          </a:xfrm>
          <a:prstGeom prst="rect">
            <a:avLst/>
          </a:prstGeom>
          <a:noFill/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F465990-9491-279E-2BDC-BB158F722199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5550" y="97845"/>
            <a:ext cx="1520114" cy="1342884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Rectangle 2">
            <a:extLst>
              <a:ext uri="{FF2B5EF4-FFF2-40B4-BE49-F238E27FC236}">
                <a16:creationId xmlns:a16="http://schemas.microsoft.com/office/drawing/2014/main" id="{35D42C2E-DAFA-16A2-D299-DBE6F95736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2140" y="1630691"/>
            <a:ext cx="10967719" cy="48936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I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Purpose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Classify communications into different </a:t>
            </a:r>
            <a:r>
              <a:rPr lang="en-I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insider-threat categories</a:t>
            </a: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Calculate a </a:t>
            </a:r>
            <a:r>
              <a:rPr lang="en-I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threat score and confidence score</a:t>
            </a: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 for each communication.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Identify suspicious indicators and assign </a:t>
            </a:r>
            <a:r>
              <a:rPr lang="en-I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LOW, MEDIUM, HIGH, or CRITICAL</a:t>
            </a: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 risk levels. </a:t>
            </a:r>
          </a:p>
          <a:p>
            <a:r>
              <a:rPr lang="en-I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🛠 Tools &amp; Technologies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 – ML prediction and risk calculation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scikit-learn</a:t>
            </a: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 – Machine-learning classification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Joblib</a:t>
            </a: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 – Saving and loading the trained ML model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NLP preprocessing</a:t>
            </a: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 – Preparing communication text for prediction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FastAPI</a:t>
            </a: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 – Threat-analysis API endpoints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React.js</a:t>
            </a: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 – Dashboard for displaying threat scores, alerts, and investigations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PostgreSQL</a:t>
            </a: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 – Storing threat-analysis results</a:t>
            </a:r>
          </a:p>
        </p:txBody>
      </p:sp>
    </p:spTree>
    <p:extLst>
      <p:ext uri="{BB962C8B-B14F-4D97-AF65-F5344CB8AC3E}">
        <p14:creationId xmlns:p14="http://schemas.microsoft.com/office/powerpoint/2010/main" val="10950622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1790E-5CCE-9BA4-B0A3-550DFF091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D62D7-3746-E2CA-4618-202523030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B917D0-3360-574C-9BB6-DC68649D2C74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28053" y="97845"/>
            <a:ext cx="1135117" cy="1342884"/>
          </a:xfrm>
          <a:prstGeom prst="rect">
            <a:avLst/>
          </a:prstGeom>
          <a:noFill/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D2DD1F9-0720-4C3D-2677-751F08E6EE25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5550" y="97845"/>
            <a:ext cx="1520114" cy="1342884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CD7A9F6-52D1-7B7E-22B6-44C5B03477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7779" y="1539859"/>
            <a:ext cx="9076442" cy="5104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79905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4190D-959D-6A05-7E0D-94DA7BBE5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B30916-B917-7BAC-2F8D-51B4FA933D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4646"/>
            <a:ext cx="10515600" cy="1325563"/>
          </a:xfrm>
        </p:spPr>
        <p:txBody>
          <a:bodyPr/>
          <a:lstStyle/>
          <a:p>
            <a:pPr algn="ctr"/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C75634-072C-506E-B1C2-E953DCE9C39B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55071" y="97845"/>
            <a:ext cx="1148260" cy="1119068"/>
          </a:xfrm>
          <a:prstGeom prst="rect">
            <a:avLst/>
          </a:prstGeom>
          <a:noFill/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CF7ED91-79F0-6E23-F9B6-96F41B59E46A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14422" y="97845"/>
            <a:ext cx="1221242" cy="1119068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F2D7DC7-3F84-1988-B975-67AF3D8113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1276393"/>
            <a:ext cx="5038765" cy="270669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14C557F-70F7-3321-790B-7AAFFDBB8B3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4040053"/>
            <a:ext cx="5038765" cy="271758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43B4ADB-4904-3B1B-1E3A-90ABC1A6704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1276393"/>
            <a:ext cx="5038764" cy="270418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FA8D64F-5960-B91E-9DC4-2AD9AD495A4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4040053"/>
            <a:ext cx="5038764" cy="2717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62538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1B49D-D2FF-A404-76A8-B569DB615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68D6D-05AF-2791-F412-87B253B7D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CFDB34-0A10-D517-F6BE-C5825B84D5E1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28053" y="97845"/>
            <a:ext cx="1135117" cy="1342884"/>
          </a:xfrm>
          <a:prstGeom prst="rect">
            <a:avLst/>
          </a:prstGeom>
          <a:noFill/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D90F58B-0900-6207-2526-F11AB30B1675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5550" y="97845"/>
            <a:ext cx="1520114" cy="1342884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Rectangle 2">
            <a:extLst>
              <a:ext uri="{FF2B5EF4-FFF2-40B4-BE49-F238E27FC236}">
                <a16:creationId xmlns:a16="http://schemas.microsoft.com/office/drawing/2014/main" id="{91F9B578-7301-7796-C0BD-15259C12E9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2140" y="1708009"/>
            <a:ext cx="10967719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I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Developed an </a:t>
            </a:r>
            <a:r>
              <a:rPr lang="en-I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NLP-based insider threat detection system</a:t>
            </a: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 for analyzing enterprise communications.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processes communication data and classifies messages into different </a:t>
            </a:r>
            <a:r>
              <a:rPr lang="en-I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threat categories</a:t>
            </a: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Generates </a:t>
            </a:r>
            <a:r>
              <a:rPr lang="en-I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threat scores, confidence levels, risk levels, and suspicious indicators</a:t>
            </a: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I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Future Scope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Integrate </a:t>
            </a:r>
            <a:r>
              <a:rPr lang="en-I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real-time email, chat, and enterprise communication monitoring</a:t>
            </a: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Improve detection accuracy using </a:t>
            </a:r>
            <a:r>
              <a:rPr lang="en-I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larger and more diverse real-world datasets</a:t>
            </a: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Implement advanced NLP models such as </a:t>
            </a:r>
            <a:r>
              <a:rPr lang="en-I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BERT, RoBERTa, or transformer-based models</a:t>
            </a: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Deploy the system on </a:t>
            </a:r>
            <a:r>
              <a:rPr lang="en-I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cloud infrastructure</a:t>
            </a: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 for scalable enterprise usage</a:t>
            </a:r>
            <a:r>
              <a:rPr lang="en-IN" sz="2400"/>
              <a:t>.</a:t>
            </a:r>
            <a:endParaRPr lang="en-IN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12077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D1E9CF-D23F-59A4-0B3A-BEA4C8B4E9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03315"/>
            <a:ext cx="10515600" cy="557364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en-US" sz="11500">
              <a:latin typeface="Agency FB" panose="020B0503020202020204" pitchFamily="34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sz="11500">
                <a:latin typeface="Agency FB" panose="020B0503020202020204" pitchFamily="34" charset="0"/>
                <a:cs typeface="Times New Roman" panose="02020603050405020304" pitchFamily="18" charset="0"/>
              </a:rPr>
              <a:t>THANK YOU!</a:t>
            </a:r>
            <a:endParaRPr lang="en-IN" sz="11500">
              <a:latin typeface="Agency FB" panose="020B0503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87998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597</Words>
  <Application>Microsoft Office PowerPoint</Application>
  <PresentationFormat>Widescreen</PresentationFormat>
  <Paragraphs>72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Agency FB</vt:lpstr>
      <vt:lpstr>Arial</vt:lpstr>
      <vt:lpstr>Calibri</vt:lpstr>
      <vt:lpstr>Calibri Light</vt:lpstr>
      <vt:lpstr>Times New Roman</vt:lpstr>
      <vt:lpstr>Office Theme</vt:lpstr>
      <vt:lpstr>Natural Language-Based Insider Threat Detection from Enterprise Communications</vt:lpstr>
      <vt:lpstr>INTRODUCTION</vt:lpstr>
      <vt:lpstr>PROBLEM STATEMENT</vt:lpstr>
      <vt:lpstr>OBJECTIVES</vt:lpstr>
      <vt:lpstr>System Architecture</vt:lpstr>
      <vt:lpstr> Module 1: Enterprise Communication Processing &amp; Feature Extraction</vt:lpstr>
      <vt:lpstr>Module 2: Insider Threat Detection &amp; Risk Assessment</vt:lpstr>
      <vt:lpstr>IMPLEMENTATION</vt:lpstr>
      <vt:lpstr>IMPLEMENTATION</vt:lpstr>
      <vt:lpstr>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abihrtam123@outlook.com</dc:creator>
  <cp:lastModifiedBy>abihrtam123@outlook.com</cp:lastModifiedBy>
  <cp:revision>2</cp:revision>
  <dcterms:created xsi:type="dcterms:W3CDTF">2026-08-27T03:34:39Z</dcterms:created>
  <dcterms:modified xsi:type="dcterms:W3CDTF">2026-08-31T15:43:14Z</dcterms:modified>
</cp:coreProperties>
</file>